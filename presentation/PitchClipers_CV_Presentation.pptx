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abced1b4974eef" /><Relationship Type="http://schemas.openxmlformats.org/officeDocument/2006/relationships/extended-properties" Target="/docProps/app.xml" Id="R4b31fa467c8547d3" /><Relationship Type="http://schemas.openxmlformats.org/officeDocument/2006/relationships/officeDocument" Target="/ppt/presentation.xml" Id="R59056de080cc40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1d07c2ecfa42cb"/>
  </p:sldMasterIdLst>
  <p:notesMasterIdLst>
    <p:notesMasterId xmlns:r="http://schemas.openxmlformats.org/officeDocument/2006/relationships" r:id="Rc01f003b1ef2456d"/>
  </p:notesMasterIdLst>
  <p:sldIdLst>
    <p:sldId xmlns:r="http://schemas.openxmlformats.org/officeDocument/2006/relationships" id="256" r:id="R80419901a73c46f7"/>
    <p:sldId xmlns:r="http://schemas.openxmlformats.org/officeDocument/2006/relationships" id="257" r:id="R83d5a4c5eb564766"/>
    <p:sldId xmlns:r="http://schemas.openxmlformats.org/officeDocument/2006/relationships" id="258" r:id="Rd81a70d705ea4c42"/>
    <p:sldId xmlns:r="http://schemas.openxmlformats.org/officeDocument/2006/relationships" id="259" r:id="Rb8649e3b4a2543ff"/>
    <p:sldId xmlns:r="http://schemas.openxmlformats.org/officeDocument/2006/relationships" id="260" r:id="R54b0b0bfb7284bec"/>
    <p:sldId xmlns:r="http://schemas.openxmlformats.org/officeDocument/2006/relationships" id="261" r:id="Ra5d00458a7a74b7c"/>
    <p:sldId xmlns:r="http://schemas.openxmlformats.org/officeDocument/2006/relationships" id="262" r:id="Rba0be4c01f2146f9"/>
    <p:sldId xmlns:r="http://schemas.openxmlformats.org/officeDocument/2006/relationships" id="263" r:id="R6c96aeb06352429b"/>
    <p:sldId xmlns:r="http://schemas.openxmlformats.org/officeDocument/2006/relationships" id="264" r:id="R96b144e2195c423d"/>
    <p:sldId xmlns:r="http://schemas.openxmlformats.org/officeDocument/2006/relationships" id="265" r:id="R9d3d30c11cc448b9"/>
    <p:sldId xmlns:r="http://schemas.openxmlformats.org/officeDocument/2006/relationships" id="266" r:id="R15d487f55127475c"/>
    <p:sldId xmlns:r="http://schemas.openxmlformats.org/officeDocument/2006/relationships" id="267" r:id="R025a4174cded41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b7fd17241e4e1b" /><Relationship Type="http://schemas.openxmlformats.org/officeDocument/2006/relationships/slideMaster" Target="/ppt/slideMasters/slideMaster1.xml" Id="Rcb1d07c2ecfa42cb" /><Relationship Type="http://schemas.openxmlformats.org/officeDocument/2006/relationships/notesMaster" Target="/ppt/notesMasters/notesMaster1.xml" Id="Rc01f003b1ef2456d" /><Relationship Type="http://schemas.openxmlformats.org/officeDocument/2006/relationships/presProps" Target="/ppt/presProps.xml" Id="Rc0bd22073d5d42e3" /><Relationship Type="http://schemas.openxmlformats.org/officeDocument/2006/relationships/tableStyles" Target="/ppt/tableStyles.xml" Id="R145ebb06031a4521" /><Relationship Type="http://schemas.openxmlformats.org/officeDocument/2006/relationships/slide" Target="/ppt/slides/slide1.xml" Id="R80419901a73c46f7" /><Relationship Type="http://schemas.openxmlformats.org/officeDocument/2006/relationships/slide" Target="/ppt/slides/slide2.xml" Id="R83d5a4c5eb564766" /><Relationship Type="http://schemas.openxmlformats.org/officeDocument/2006/relationships/slide" Target="/ppt/slides/slide3.xml" Id="Rd81a70d705ea4c42" /><Relationship Type="http://schemas.openxmlformats.org/officeDocument/2006/relationships/slide" Target="/ppt/slides/slide4.xml" Id="Rb8649e3b4a2543ff" /><Relationship Type="http://schemas.openxmlformats.org/officeDocument/2006/relationships/slide" Target="/ppt/slides/slide5.xml" Id="R54b0b0bfb7284bec" /><Relationship Type="http://schemas.openxmlformats.org/officeDocument/2006/relationships/slide" Target="/ppt/slides/slide6.xml" Id="Ra5d00458a7a74b7c" /><Relationship Type="http://schemas.openxmlformats.org/officeDocument/2006/relationships/slide" Target="/ppt/slides/slide7.xml" Id="Rba0be4c01f2146f9" /><Relationship Type="http://schemas.openxmlformats.org/officeDocument/2006/relationships/slide" Target="/ppt/slides/slide8.xml" Id="R6c96aeb06352429b" /><Relationship Type="http://schemas.openxmlformats.org/officeDocument/2006/relationships/slide" Target="/ppt/slides/slide9.xml" Id="R96b144e2195c423d" /><Relationship Type="http://schemas.openxmlformats.org/officeDocument/2006/relationships/slide" Target="/ppt/slides/slide10.xml" Id="R9d3d30c11cc448b9" /><Relationship Type="http://schemas.openxmlformats.org/officeDocument/2006/relationships/slide" Target="/ppt/slides/slide11.xml" Id="R15d487f55127475c" /><Relationship Type="http://schemas.openxmlformats.org/officeDocument/2006/relationships/slide" Target="/ppt/slides/slide12.xml" Id="R025a4174cded41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bfec3607314d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b4c358c59d4db4" /><Relationship Type="http://schemas.openxmlformats.org/officeDocument/2006/relationships/notesMaster" Target="/ppt/notesMasters/notesMaster1.xml" Id="Rcb54a17ad8dc45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e213e943d3489f" /><Relationship Type="http://schemas.openxmlformats.org/officeDocument/2006/relationships/notesMaster" Target="/ppt/notesMasters/notesMaster1.xml" Id="R0da8fb0d264d46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9314793a16446f" /><Relationship Type="http://schemas.openxmlformats.org/officeDocument/2006/relationships/notesMaster" Target="/ppt/notesMasters/notesMaster1.xml" Id="R310cb37158774c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78453a8c674cc9" /><Relationship Type="http://schemas.openxmlformats.org/officeDocument/2006/relationships/notesMaster" Target="/ppt/notesMasters/notesMaster1.xml" Id="Rd54cbc5b89754a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3596ea0fd840f7" /><Relationship Type="http://schemas.openxmlformats.org/officeDocument/2006/relationships/notesMaster" Target="/ppt/notesMasters/notesMaster1.xml" Id="Re9451a7311a947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f9c1781652498f" /><Relationship Type="http://schemas.openxmlformats.org/officeDocument/2006/relationships/notesMaster" Target="/ppt/notesMasters/notesMaster1.xml" Id="R7203a74d32b749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ee5d50b168406e" /><Relationship Type="http://schemas.openxmlformats.org/officeDocument/2006/relationships/notesMaster" Target="/ppt/notesMasters/notesMaster1.xml" Id="Rc612e34b08304b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effa85acf74781" /><Relationship Type="http://schemas.openxmlformats.org/officeDocument/2006/relationships/notesMaster" Target="/ppt/notesMasters/notesMaster1.xml" Id="R12b3de4f905149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313bca188640f0" /><Relationship Type="http://schemas.openxmlformats.org/officeDocument/2006/relationships/notesMaster" Target="/ppt/notesMasters/notesMaster1.xml" Id="R837bfd0860ea42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94c871ba854e1c" /><Relationship Type="http://schemas.openxmlformats.org/officeDocument/2006/relationships/notesMaster" Target="/ppt/notesMasters/notesMaster1.xml" Id="Re9cc6fbfaad145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a2c9648bf24c99" /><Relationship Type="http://schemas.openxmlformats.org/officeDocument/2006/relationships/notesMaster" Target="/ppt/notesMasters/notesMaster1.xml" Id="Rfafb252ddb1b44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0c8fc781f84262" /><Relationship Type="http://schemas.openxmlformats.org/officeDocument/2006/relationships/notesMaster" Target="/ppt/notesMasters/notesMaster1.xml" Id="R5985c7a031db48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research question: an action timestamp is not yet a watchable highlight. The system turns proposals into inspectable temporal clips under a viewing-time constraint. Footage is supplied VIDEO.MP4.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standard spotting labels evaluate timestamp localization, while a viewer needs build-up and outcome. We separate model confidence from the clip construction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precise in Q&amp;A: CALF, YOLO11, and ByteTrack are pretrained components. Our code implements decoder policies, interval accounting, asynchronous job control, evaluation, tracking summaries, and the interactive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merge operates on temporal union, so repeated overlapping footage is not charged twice. The budget heuristic ranks score divided by additional union duration.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claim these are standard SoccerNet measures. They are a model-independent evaluation interface for a context-annotation protocol. Without annotations, only duration and decoder behavior are reported.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source: evaluation/decoder_sweep.json, supplied CALF target. At threshold 0.20, one proposal remains and the default output is 13 seconds. The plot isolates decoder behavior using saved proposals.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deliberately a failure analysis. The current generic COCO ball detector struggles with a small broadcast ball. A production offside method needs calibrated pitch coordinates, teams, direction, ball, and pass instant.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fresh tracking time is device-specific. State that the cache makes repeat review near-instant. The actual exported H.264 reel was downloaded and ffprobe confirmed a 30.0-second duration.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demo script: load sample, run or use saved results, click events, switch to duration budget, show queue duration and exported MP4. Then show tracking overlay and explain the ball-missing limitation.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modest claim: we built and verified an explainable clip-construction system. The next contribution is a proper annotated evaluation, not unsupported accuracy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for Q&amp;A. Be direct about reused pretrained components and distinction between the tested deterministic policy and a future learned selector.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used in report and presentation. Numbers on result slides trace to saved evaluation artifacts and local job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d0cbfe63b84a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5b55fe5d824d05" /><Relationship Type="http://schemas.openxmlformats.org/officeDocument/2006/relationships/slideLayout" Target="/ppt/slideLayouts/slideLayout1.xml" Id="Rf5b5ea02a53841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b5ea02a53841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ec1984f4a4507" /><Relationship Type="http://schemas.openxmlformats.org/officeDocument/2006/relationships/image" Target="/ppt/media/image.jpeg" Id="R96206eac83c248ab" /><Relationship Type="http://schemas.openxmlformats.org/officeDocument/2006/relationships/notesSlide" Target="/ppt/notesSlides/notesSlide1.xml" Id="R3d31c8db99d142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a3b4443ed4bf4" /><Relationship Type="http://schemas.openxmlformats.org/officeDocument/2006/relationships/image" Target="/ppt/media/image2.jpeg" Id="Rd879a740d7f54ce4" /><Relationship Type="http://schemas.openxmlformats.org/officeDocument/2006/relationships/notesSlide" Target="/ppt/notesSlides/notesSlide2.xml" Id="R20501caa02f846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54e826a9c499f" /><Relationship Type="http://schemas.openxmlformats.org/officeDocument/2006/relationships/notesSlide" Target="/ppt/notesSlides/notesSlide3.xml" Id="Rfc229c34878d49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776301aa54e58" /><Relationship Type="http://schemas.openxmlformats.org/officeDocument/2006/relationships/notesSlide" Target="/ppt/notesSlides/notesSlide4.xml" Id="R6a0e99a4b8b246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0b23656a94f5b" /><Relationship Type="http://schemas.openxmlformats.org/officeDocument/2006/relationships/notesSlide" Target="/ppt/notesSlides/notesSlide5.xml" Id="R29353647fb344d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4353a6c4d4eba" /><Relationship Type="http://schemas.openxmlformats.org/officeDocument/2006/relationships/chart" Target="/ppt/slides/charts/chart1.xml" Id="Rc69021f6cf414d9f" /><Relationship Type="http://schemas.openxmlformats.org/officeDocument/2006/relationships/notesSlide" Target="/ppt/notesSlides/notesSlide6.xml" Id="Rc0a8b443a86d4f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41cef3f5a4588" /><Relationship Type="http://schemas.openxmlformats.org/officeDocument/2006/relationships/image" Target="/ppt/media/image3.jpeg" Id="Rf4af96a3efe44685" /><Relationship Type="http://schemas.openxmlformats.org/officeDocument/2006/relationships/notesSlide" Target="/ppt/notesSlides/notesSlide7.xml" Id="R33cde50a27b54b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cbe3e34d44f9b" /><Relationship Type="http://schemas.openxmlformats.org/officeDocument/2006/relationships/chart" Target="/ppt/slides/charts/chart2.xml" Id="R450c7a826b2f4df9" /><Relationship Type="http://schemas.openxmlformats.org/officeDocument/2006/relationships/notesSlide" Target="/ppt/notesSlides/notesSlide8.xml" Id="Rc17eb7528ec14f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e1c81c6d34d0e" /><Relationship Type="http://schemas.openxmlformats.org/officeDocument/2006/relationships/notesSlide" Target="/ppt/notesSlides/notesSlide9.xml" Id="R9b108f73251141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190de14ed4672" /><Relationship Type="http://schemas.openxmlformats.org/officeDocument/2006/relationships/notesSlide" Target="/ppt/notesSlides/notesSlide10.xml" Id="Rfe570cba4b464f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4d34d62884dee" /><Relationship Type="http://schemas.openxmlformats.org/officeDocument/2006/relationships/notesSlide" Target="/ppt/notesSlides/notesSlide11.xml" Id="Ra8fe8ef87bd744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f5baf483e4630" /><Relationship Type="http://schemas.openxmlformats.org/officeDocument/2006/relationships/notesSlide" Target="/ppt/notesSlides/notesSlide12.xml" Id="R60709905181d4f1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Reel duration (s)</c:v>
          </c:tx>
          <c:spPr>
            <a:solidFill xmlns:a="http://schemas.openxmlformats.org/drawingml/2006/main">
              <a:srgbClr val="7DB7FF"/>
            </a:solidFill>
          </c:spPr>
          <c:cat>
            <c:strRef>
              <c:f>'Chart Data'!$A$2:$A$4</c:f>
              <c:strCache>
                <c:ptCount val="3"/>
                <c:pt idx="0">
                  <c:v>4s before / 3s after</c:v>
                </c:pt>
                <c:pt idx="1">
                  <c:v>8s before / 5s after</c:v>
                </c:pt>
                <c:pt idx="2">
                  <c:v>12s before / 8s after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11.5</c:v>
                </c:pt>
                <c:pt idx="1">
                  <c:v>17.5</c:v>
                </c:pt>
                <c:pt idx="2">
                  <c:v>21.5</c:v>
                </c:pt>
              </c:numCache>
            </c:numRef>
          </c:val>
        </c:ser>
        <c:ser>
          <c:idx val="1"/>
          <c:order val="1"/>
          <c:tx>
            <c:v>Overlap removed (s)</c:v>
          </c:tx>
          <c:spPr>
            <a:solidFill xmlns:a="http://schemas.openxmlformats.org/drawingml/2006/main">
              <a:srgbClr val="74E4A1"/>
            </a:solidFill>
          </c:spPr>
          <c:cat>
            <c:strRef>
              <c:f>'Chart Data'!$C$2:$C$4</c:f>
              <c:strCache>
                <c:ptCount val="3"/>
                <c:pt idx="0">
                  <c:v>4s before / 3s after</c:v>
                </c:pt>
                <c:pt idx="1">
                  <c:v>8s before / 5s after</c:v>
                </c:pt>
                <c:pt idx="2">
                  <c:v>12s before / 8s after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2.5</c:v>
                </c:pt>
                <c:pt idx="1">
                  <c:v>8.5</c:v>
                </c:pt>
                <c:pt idx="2">
                  <c:v>15.5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Elapsed seconds</c:v>
          </c:tx>
          <c:spPr>
            <a:solidFill xmlns:a="http://schemas.openxmlformats.org/drawingml/2006/main">
              <a:srgbClr val="FFB36B"/>
            </a:solidFill>
          </c:spPr>
          <c:cat>
            <c:strRef>
              <c:f>'Chart Data'!$A$2:$A$4</c:f>
              <c:strCache>
                <c:ptCount val="3"/>
                <c:pt idx="0">
                  <c:v>Fresh tracking</c:v>
                </c:pt>
                <c:pt idx="1">
                  <c:v>Cached tracking</c:v>
                </c:pt>
                <c:pt idx="2">
                  <c:v>MP4 export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107.352</c:v>
                </c:pt>
                <c:pt idx="1">
                  <c:v>0.003</c:v>
                </c:pt>
                <c:pt idx="2">
                  <c:v>4.431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406CD-6B22-4D44-A6B1-DA6BADB6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rPr>
              <a:t>PITCHCLIPERS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FE87D-6BDB-4BB2-9591-898897C9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657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Context-aware football</a:t>
            </a:r>
          </a:p>
          <a:p xmlns:a="http://schemas.openxmlformats.org/drawingml/2006/main">
            <a:pPr>
              <a:defRPr sz="42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highlight 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B2E89-CC56-42DF-98AD-D0F0E3AE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Event proposals, clip policies, and player-ball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74B1E-D5DC-4836-B48F-84385E03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Zaid Rafi  |  Computer Vision project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206eac83c248ab"/>
          <a:srcRect xmlns:a="http://schemas.openxmlformats.org/drawingml/2006/main" l="26938" t="0" r="269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904875"/>
            <a:ext cx="3905250" cy="476250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</p:spTree>
    <p:extLst>
      <p:ext uri="{BB962C8B-B14F-4D97-AF65-F5344CB8AC3E}">
        <p14:creationId xmlns:p14="http://schemas.microsoft.com/office/powerpoint/2010/main" val="17382405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E546E-A1E9-4B98-B650-790EB461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rPr>
              <a:t>PITCHCLIPERS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05FEF-ED64-43DB-A4E5-505A2C4A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Problem and research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46C9A-2B4E-4142-90CA-D3224A48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657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192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Action spotting answers “when did something happen?”</a:t>
            </a:r>
          </a:p>
          <a:p xmlns:a="http://schemas.openxmlformats.org/drawingml/2006/main">
            <a:pPr>
              <a:defRPr sz="225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A highlight must also answer “what context is needed to understand it?”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DBC12-A5C1-4AB6-9C0A-C55C96F9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rPr>
              <a:t>Research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3883E-2449-407C-B580-7D902901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How can timestamped action proposals become compact clips that preserve necessary context under a fixed viewing budget?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9a740d7f54ce4"/>
          <a:srcRect xmlns:a="http://schemas.openxmlformats.org/drawingml/2006/main" l="16981" t="0" r="169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1666875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B1AEA-F6A6-482A-B9D7-0D851DF9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2  |  Zaid Rafi</a:t>
            </a:r>
          </a:p>
        </p:txBody>
      </p:sp>
    </p:spTree>
    <p:extLst>
      <p:ext uri="{BB962C8B-B14F-4D97-AF65-F5344CB8AC3E}">
        <p14:creationId xmlns:p14="http://schemas.microsoft.com/office/powerpoint/2010/main" val="919154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08FDA-0B03-4D2A-A66A-625B53EB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rPr>
              <a:t>PITCHCLIPERS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738CC-0935-4EB8-ABA3-D832B4BA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System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D0757-DE7F-4312-8D29-4927BB6D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rPr>
              <a:t>Pretrained components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6BD6F-C85D-4430-A861-667ACD28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CALF action spotting</a:t>
            </a:r>
          </a:p>
          <a:p xmlns:a="http://schemas.openxmlformats.org/drawingml/2006/main">
            <a:pPr>
              <a:def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YOLO11 detection</a:t>
            </a:r>
          </a:p>
          <a:p xmlns:a="http://schemas.openxmlformats.org/drawingml/2006/main">
            <a:pPr>
              <a:def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ByteTrack association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894DA-6F08-4829-9102-A0A92020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rPr>
              <a:t>Implemented project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EB863-4ADE-4D2E-9364-DBCD7E4F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619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Asymmetric / symmetric windows</a:t>
            </a:r>
          </a:p>
          <a:p xmlns:a="http://schemas.openxmlformats.org/drawingml/2006/main">
            <a:pPr>
              <a:def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Overlap-aware merging</a:t>
            </a:r>
          </a:p>
          <a:p xmlns:a="http://schemas.openxmlformats.org/drawingml/2006/main">
            <a:pPr>
              <a:def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Duration-budgeted selection</a:t>
            </a:r>
          </a:p>
          <a:p xmlns:a="http://schemas.openxmlformats.org/drawingml/2006/main">
            <a:pPr>
              <a:def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Context evaluation interface</a:t>
            </a:r>
          </a:p>
          <a:p xmlns:a="http://schemas.openxmlformats.org/drawingml/2006/main">
            <a:pPr>
              <a:def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Per-clip spatial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50183-BCC0-4050-A019-89BAFF54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rPr>
              <a:t>Outputs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19371-06D3-4D75-9AC8-8F3DD021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7645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7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Timeline</a:t>
            </a:r>
          </a:p>
          <a:p xmlns:a="http://schemas.openxmlformats.org/drawingml/2006/main">
            <a:pPr>
              <a:def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Overlay</a:t>
            </a:r>
          </a:p>
          <a:p xmlns:a="http://schemas.openxmlformats.org/drawingml/2006/main">
            <a:pPr>
              <a:def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MP4 reel</a:t>
            </a:r>
          </a:p>
          <a:p xmlns:a="http://schemas.openxmlformats.org/drawingml/2006/main">
            <a:pPr>
              <a:def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JSON manifest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0F2CE-CEF9-499D-8E6E-F74E34F5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The contribution is the transparent decoding and evaluation layer. Pretrained models provide evidence; they are not claimed as trained by this project.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5162D-02FC-4E4E-A6EA-014F9DD0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3  |  Zaid Rafi</a:t>
            </a:r>
          </a:p>
        </p:txBody>
      </p:sp>
    </p:spTree>
    <p:extLst>
      <p:ext uri="{BB962C8B-B14F-4D97-AF65-F5344CB8AC3E}">
        <p14:creationId xmlns:p14="http://schemas.microsoft.com/office/powerpoint/2010/main" val="334312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9ABBF-47E2-4E5D-B75A-B93EE9F3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rPr>
              <a:t>PITCHCLIPERS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B412F-A0E5-4B2E-BF68-AFE05D7C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Highlight construction policies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DE3AA-4590-44A7-8175-15FDF01C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For proposal i = (time, class, score):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0B47E-3EE4-454B-B190-CE2BCC84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919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Iᵢ = [max(0, tᵢ - b), min(T, tᵢ + a)]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81CD9-8FCC-46C0-9052-5B413D55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Asymmetric baseline: b = 8s, a = 5s</a:t>
            </a:r>
          </a:p>
          <a:p xmlns:a="http://schemas.openxmlformats.org/drawingml/2006/main">
            <a:pPr>
              <a:defRPr sz="19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Symmetric baseline: b = a</a:t>
            </a:r>
          </a:p>
          <a:p xmlns:a="http://schemas.openxmlformats.org/drawingml/2006/main">
            <a:pPr>
              <a:defRPr sz="19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Budget policy: greedily retain score per added union second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E65A9-A34A-4B19-AFE4-F9161471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668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rPr>
              <a:t>Overlap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C6121-A39C-4866-A279-9F9ACDB6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476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3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Raw windows</a:t>
            </a:r>
          </a:p>
          <a:p xmlns:a="http://schemas.openxmlformats.org/drawingml/2006/main">
            <a:pPr>
              <a:defRPr sz="21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26.0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Merged union</a:t>
            </a:r>
          </a:p>
          <a:p xmlns:a="http://schemas.openxmlformats.org/drawingml/2006/main">
            <a:pPr>
              <a:defRPr sz="21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17.5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8.5 seconds removed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07846-E617-4DE9-8A67-C081FDBC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The budget policy is a deterministic proxy. It does not claim to optimize human enjoyment.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08F7E-ACBC-4C96-8567-8E4C5A20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4  |  Zaid Rafi</a:t>
            </a:r>
          </a:p>
        </p:txBody>
      </p:sp>
    </p:spTree>
    <p:extLst>
      <p:ext uri="{BB962C8B-B14F-4D97-AF65-F5344CB8AC3E}">
        <p14:creationId xmlns:p14="http://schemas.microsoft.com/office/powerpoint/2010/main" val="926603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DD82B-E12C-4235-92D1-A28C02D8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rPr>
              <a:t>PITCHCLIPERS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EF89D-ED0B-4E05-AE22-789FA126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Context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8AD8D-4580-49B4-933A-5F1456D4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Reference interval: the minimum human-judged context needed for an event.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2FF4D-B1EC-4704-9FFA-50381CAA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828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Temporal precision = selected ∩ reference / selected</a:t>
            </a:r>
          </a:p>
          <a:p xmlns:a="http://schemas.openxmlformats.org/drawingml/2006/main">
            <a:pPr>
              <a:defRPr sz="19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Context coverage = mean reference fraction covered by selected union</a:t>
            </a:r>
          </a:p>
          <a:p xmlns:a="http://schemas.openxmlformats.org/drawingml/2006/main">
            <a:pPr>
              <a:defRPr sz="19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Complete-context rate = reference interval fully contained</a:t>
            </a:r>
          </a:p>
          <a:p xmlns:a="http://schemas.openxmlformats.org/drawingml/2006/main">
            <a:pPr>
              <a:defRPr sz="19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Context F1 = harmonic mean of precision and coverage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9D585-159D-4F9B-83B1-5275D64D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rPr>
              <a:t>Why union coverage?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9094C-BF80-413B-8C33-692CE5FA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09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Several exported clips may jointly cover an interval. Measuring only the best single clip would understate retained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727E2-70BD-4241-9434-01AA5981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582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These are project-defined measures. They require independently reviewed intervals and are intentionally unavailable for the unannotated pilot footage.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F9412-1DFC-4A7A-820F-9374D22C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5  |  Zaid Rafi</a:t>
            </a:r>
          </a:p>
        </p:txBody>
      </p:sp>
    </p:spTree>
    <p:extLst>
      <p:ext uri="{BB962C8B-B14F-4D97-AF65-F5344CB8AC3E}">
        <p14:creationId xmlns:p14="http://schemas.microsoft.com/office/powerpoint/2010/main" val="21214166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BB631-6C26-43A1-82AA-7F55AC9F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rPr>
              <a:t>PITCHCLIPERS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4D1ED-5231-4FE8-9F2C-4E9701B9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Decoder sensitivity on saved CALF proposals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6286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9021f6cf414d9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D46DC-12DF-45B7-A762-3A561421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14500"/>
            <a:ext cx="34766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44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Fixed confidence threshold: 0.05</a:t>
            </a:r>
          </a:p>
          <a:p xmlns:a="http://schemas.openxmlformats.org/drawingml/2006/main">
            <a:pPr>
              <a:defRPr sz="18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Two saved CALF proposals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At default context, merging reduces 26.0s raw windows to 17.5s union duration: 32.7% less repeated viewing.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252C7-0D28-4540-BEC5-C60405D0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Recorded from evaluation/decoder_sweep.json. Decoder-only sweep; no accuracy or highlight-quality claim.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68A9C-EB2D-4A4C-BD9F-70F39A60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6  |  Zaid Rafi</a:t>
            </a:r>
          </a:p>
        </p:txBody>
      </p:sp>
    </p:spTree>
    <p:extLst>
      <p:ext uri="{BB962C8B-B14F-4D97-AF65-F5344CB8AC3E}">
        <p14:creationId xmlns:p14="http://schemas.microsoft.com/office/powerpoint/2010/main" val="16440735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01B58-F10A-4556-A549-B2DE4F45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rPr>
              <a:t>PITCHCLIPERS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85FFE-B04A-4A1B-8EF6-E41AE528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Tracking evidence and a visible failure mode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f96a3efe44685"/>
          <a:srcRect xmlns:a="http://schemas.openxmlformats.org/drawingml/2006/main" l="3125" t="0" r="3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76375"/>
            <a:ext cx="619125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F5759-6CF9-4780-8C9D-072E9C69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rPr>
              <a:t>Fresh 30-second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85856-0D4B-4DC3-A3A7-60E2DB7C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47875"/>
            <a:ext cx="3333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750 frames</a:t>
            </a:r>
          </a:p>
          <a:p xmlns:a="http://schemas.openxmlformats.org/drawingml/2006/main">
            <a:pPr>
              <a:defRPr sz="195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107.4 seconds</a:t>
            </a:r>
          </a:p>
          <a:p xmlns:a="http://schemas.openxmlformats.org/drawingml/2006/main">
            <a:pPr>
              <a:defRPr sz="195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6.2 mean players / sampled frame</a:t>
            </a:r>
          </a:p>
          <a:p xmlns:a="http://schemas.openxmlformats.org/drawingml/2006/main">
            <a:pPr>
              <a:defRPr sz="195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Ball visible in 1 / 750 frames</a:t>
            </a:r>
          </a:p>
          <a:p xmlns:a="http://schemas.openxmlformats.org/drawingml/2006/main">
            <a:pPr>
              <a:defRPr sz="195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1 proximity-control cue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36843-3748-400D-975D-C1F0864A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577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The small ball was mostly missed. The UI reports this as missing evidence, not “no possession.” The red line is a screen-position guide, not an offside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660CA-7AF6-4EE7-BEB3-D944316D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7  |  Zaid Rafi</a:t>
            </a:r>
          </a:p>
        </p:txBody>
      </p:sp>
    </p:spTree>
    <p:extLst>
      <p:ext uri="{BB962C8B-B14F-4D97-AF65-F5344CB8AC3E}">
        <p14:creationId xmlns:p14="http://schemas.microsoft.com/office/powerpoint/2010/main" val="13589229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1F3B7-C048-404E-9F99-E2AB7E24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rPr>
              <a:t>PITCHCLIPERS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6F0C2-04F2-4FDE-8899-B9970CBB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Operational reliability and export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4953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0c7a826b2f4df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E4773-FD84-4B36-A1EB-5549A21F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Observed on VIDEO.MP4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42485-8DCC-45B3-8C63-D9FC945F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rPr>
              <a:t>Reliability work implemented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1DF36-A159-4627-B305-9E7B89A4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000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• Serialized CALF fixed output path</a:t>
            </a:r>
          </a:p>
          <a:p xmlns:a="http://schemas.openxmlformats.org/drawingml/2006/main">
            <a:pPr>
              <a:defRPr sz="18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• One active job per video</a:t>
            </a:r>
          </a:p>
          <a:p xmlns:a="http://schemas.openxmlformats.org/drawingml/2006/main">
            <a:pPr>
              <a:defRPr sz="18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• Asynchronous tracking and export</a:t>
            </a:r>
          </a:p>
          <a:p xmlns:a="http://schemas.openxmlformats.org/drawingml/2006/main">
            <a:pPr>
              <a:defRPr sz="18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• Cache-safe tracking result return</a:t>
            </a:r>
          </a:p>
          <a:p xmlns:a="http://schemas.openxmlformats.org/drawingml/2006/main">
            <a:pPr>
              <a:defRPr sz="18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• Validated temporal intervals</a:t>
            </a:r>
          </a:p>
          <a:p xmlns:a="http://schemas.openxmlformats.org/drawingml/2006/main">
            <a:pPr>
              <a:defRPr sz="18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• Real H.264 MP4 verified at 30.0s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F0F48-F9B0-4D4B-A539-E462E0C1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8  |  Zaid Rafi</a:t>
            </a:r>
          </a:p>
        </p:txBody>
      </p:sp>
    </p:spTree>
    <p:extLst>
      <p:ext uri="{BB962C8B-B14F-4D97-AF65-F5344CB8AC3E}">
        <p14:creationId xmlns:p14="http://schemas.microsoft.com/office/powerpoint/2010/main" val="13193231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AE9EB-1761-42CA-B720-F8A1578B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rPr>
              <a:t>PITCHCLIPERS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C2729-8000-49B0-A9D1-0281189A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Live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3534F-7B3A-4174-BD3F-EF896DA0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619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805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1  Load the supplied sample or a wide-view clip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2  Run CALF event spotting or player-ball tracking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3  Click the timeline, change threshold and context policy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4  Inspect event provenance and per-clip spatial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5  Select clips and download the MP4 reel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D88A5-1B4F-4990-B120-7C7F5AE7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621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rPr>
              <a:t>Demo fallback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EEE3A-B872-41FE-A372-E6BDDE3E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3000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636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Use the saved sample output if fresh CALF extraction is slow. Make clear that the displayed result is precomputed, then demonstrate policy adjustment and export live.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AC44F-2C24-4728-98FA-7DE14D93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52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The interface locks duplicate actions while a job runs and gives a completion message that names the actual completed operation.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9DFBC-3BC5-429F-88F7-0AD9555E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9  |  Zaid Rafi</a:t>
            </a:r>
          </a:p>
        </p:txBody>
      </p:sp>
    </p:spTree>
    <p:extLst>
      <p:ext uri="{BB962C8B-B14F-4D97-AF65-F5344CB8AC3E}">
        <p14:creationId xmlns:p14="http://schemas.microsoft.com/office/powerpoint/2010/main" val="11215904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630E0-2B2B-4E59-9C77-A2A69219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rPr>
              <a:t>PITCHCLIPERS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AF513-2AC0-4603-B393-404A91A6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Findings and next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36B27E-C1E1-407C-98E0-32AE4832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rPr>
              <a:t>Supported by the current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CD62E-9EC1-4D89-9C8B-9E7D36DB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741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Merging preserves temporal union while removing repeated viewing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Context length and score threshold change retained duration independently.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Player detections remain useful when ball evidence is absent, provided missingness stays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74DEE-D25C-4975-86F1-4BD4A6C2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668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rPr>
              <a:t>Next focused experiment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439A1-A1B5-43A6-9736-F69AB64E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095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741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Collect independent minimal-context intervals.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Compare fixed, budgeted, and learned policies at equal viewing duration using match-separated splits.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Test whether per-clip spatial evidence improves context coverage.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7C85F-51FC-452B-A08B-99374007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10  |  Zaid Rafi</a:t>
            </a:r>
          </a:p>
        </p:txBody>
      </p:sp>
    </p:spTree>
    <p:extLst>
      <p:ext uri="{BB962C8B-B14F-4D97-AF65-F5344CB8AC3E}">
        <p14:creationId xmlns:p14="http://schemas.microsoft.com/office/powerpoint/2010/main" val="7207483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A1283-BD68-49A9-BCAE-D1E37137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rPr>
              <a:t>PITCHCLIPERS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480D3-6008-4366-8968-8CCA49AE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Backup: technical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1C03D-EF6C-4FD9-BD6C-D779BD62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096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What is learned here?</a:t>
            </a:r>
          </a:p>
          <a:p xmlns:a="http://schemas.openxmlformats.org/drawingml/2006/main">
            <a:pPr>
              <a:def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The app currently uses pretrained CALF, YOLO11 and ByteTrack. Threshold grid fitting is parameter selection, not a learned neural selector.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Why is offside not solved?</a:t>
            </a:r>
          </a:p>
          <a:p xmlns:a="http://schemas.openxmlformats.org/drawingml/2006/main">
            <a:pPr>
              <a:def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The current red guide only uses screen coordinates. Offside requires field calibration, team identity, attack direction, ball location and pass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What prevents leakage?</a:t>
            </a:r>
          </a:p>
          <a:p xmlns:a="http://schemas.openxmlformats.org/drawingml/2006/main">
            <a:pPr>
              <a:def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Any future selector must use match-separated splits; overlapping windows from a match cannot cross train/test boundaries.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D563B-CCFD-41D5-81B4-E846BBBB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11  |  Zaid Rafi</a:t>
            </a:r>
          </a:p>
        </p:txBody>
      </p:sp>
    </p:spTree>
    <p:extLst>
      <p:ext uri="{BB962C8B-B14F-4D97-AF65-F5344CB8AC3E}">
        <p14:creationId xmlns:p14="http://schemas.microsoft.com/office/powerpoint/2010/main" val="6210213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1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A6FFE-E92E-41AD-B028-7E909FBA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4E4A1"/>
                </a:solidFill>
                <a:latin typeface="Helvetica Neue"/>
                <a:ea typeface="Helvetica Neue"/>
                <a:cs typeface="Helvetica Neue"/>
              </a:rPr>
              <a:t>PITCHCLIPERS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44669-7224-4D66-8243-7B9A66FB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Backup: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D6121-D26E-4577-AA3F-5F7DD4CC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28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A. Deliège et al., SoccerNet-v2, CVPRW 2021.</a:t>
            </a:r>
          </a:p>
          <a:p xmlns:a="http://schemas.openxmlformats.org/drawingml/2006/main">
            <a:pPr>
              <a:defRPr sz="16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A. Cioppa et al., A Context-Aware Loss Function for Action Spotting in Soccer Videos, CVPR 2020.</a:t>
            </a:r>
          </a:p>
          <a:p xmlns:a="http://schemas.openxmlformats.org/drawingml/2006/main">
            <a:pPr>
              <a:defRPr sz="16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Y. Zhang et al., ByteTrack, ECCV 2022.</a:t>
            </a:r>
          </a:p>
          <a:p xmlns:a="http://schemas.openxmlformats.org/drawingml/2006/main">
            <a:pPr>
              <a:defRPr sz="16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J. Redmon et al., You Only Look Once, CVPR 2016.</a:t>
            </a:r>
          </a:p>
          <a:p xmlns:a="http://schemas.openxmlformats.org/drawingml/2006/main">
            <a:pPr>
              <a:defRPr sz="16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S. Giancola and B. Ghanem, Temporally-Aware Feature Pooling, CVPRW 2021.</a:t>
            </a:r>
          </a:p>
          <a:p xmlns:a="http://schemas.openxmlformats.org/drawingml/2006/main">
            <a:pPr>
              <a:defRPr sz="16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CF3FD"/>
                </a:solidFill>
                <a:latin typeface="Helvetica Neue"/>
                <a:ea typeface="Helvetica Neue"/>
                <a:cs typeface="Helvetica Neue"/>
              </a:rPr>
              <a:t>C.-L. Zhang et al., ActionFormer, ECCV 2022.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A5A36-92F3-47DF-A50F-C18514D5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Experiment artifacts: evaluation/decoder_sweep.json; local job records for VIDEO.MP4; exported H.264 reel.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C6B5F-959F-43E1-8F8A-5E8AB839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4C2D7"/>
                </a:solidFill>
                <a:latin typeface="Helvetica Neue"/>
                <a:ea typeface="Helvetica Neue"/>
                <a:cs typeface="Helvetica Neue"/>
              </a:rPr>
              <a:t>12  |  Zaid Rafi</a:t>
            </a:r>
          </a:p>
        </p:txBody>
      </p:sp>
    </p:spTree>
    <p:extLst>
      <p:ext uri="{BB962C8B-B14F-4D97-AF65-F5344CB8AC3E}">
        <p14:creationId xmlns:p14="http://schemas.microsoft.com/office/powerpoint/2010/main" val="17110650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2026-09-16T17:03:44.2990000Z</dcterms:created>
  <dcterms:modified xsi:type="dcterms:W3CDTF">2026-09-16T17:03:44.2990000Z</dcterms:modified>
</coreProperties>
</file>